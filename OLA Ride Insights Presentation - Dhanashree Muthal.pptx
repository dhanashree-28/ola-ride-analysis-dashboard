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1" r:id="rId2"/>
    <p:sldId id="262" r:id="rId3"/>
    <p:sldId id="265" r:id="rId4"/>
    <p:sldId id="256" r:id="rId5"/>
    <p:sldId id="257" r:id="rId6"/>
    <p:sldId id="268" r:id="rId7"/>
    <p:sldId id="258" r:id="rId8"/>
    <p:sldId id="259" r:id="rId9"/>
    <p:sldId id="260" r:id="rId10"/>
    <p:sldId id="266" r:id="rId11"/>
    <p:sldId id="267" r:id="rId12"/>
  </p:sldIdLst>
  <p:sldSz cx="12192000" cy="6858000"/>
  <p:notesSz cx="6858000" cy="9144000"/>
  <p:embeddedFontLs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jLxMYFPL6U13wdrt3sR43kqoJl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E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8C06543-E3CC-495D-A703-477479BDC3B9}">
  <a:tblStyle styleId="{88C06543-E3CC-495D-A703-477479BDC3B9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9.png"/><Relationship Id="rId5" Type="http://schemas.openxmlformats.org/officeDocument/2006/relationships/image" Target="../media/image9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13.png"/><Relationship Id="rId1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29.png"/><Relationship Id="rId5" Type="http://schemas.openxmlformats.org/officeDocument/2006/relationships/image" Target="../media/image27.png"/><Relationship Id="rId10" Type="http://schemas.openxmlformats.org/officeDocument/2006/relationships/image" Target="../media/image28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2.png"/><Relationship Id="rId5" Type="http://schemas.openxmlformats.org/officeDocument/2006/relationships/image" Target="../media/image9.png"/><Relationship Id="rId10" Type="http://schemas.openxmlformats.org/officeDocument/2006/relationships/image" Target="../media/image31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2.png"/><Relationship Id="rId3" Type="http://schemas.openxmlformats.org/officeDocument/2006/relationships/image" Target="../media/image16.png"/><Relationship Id="rId7" Type="http://schemas.openxmlformats.org/officeDocument/2006/relationships/image" Target="../media/image33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9.png"/><Relationship Id="rId5" Type="http://schemas.openxmlformats.org/officeDocument/2006/relationships/image" Target="../media/image9.png"/><Relationship Id="rId15" Type="http://schemas.openxmlformats.org/officeDocument/2006/relationships/image" Target="../media/image24.png"/><Relationship Id="rId10" Type="http://schemas.openxmlformats.org/officeDocument/2006/relationships/image" Target="../media/image18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FD726B-9878-14AB-78C0-F3A549619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139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B31BA-8E3F-CB78-25CF-CE29997B4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226"/>
            <a:ext cx="12192000" cy="519778"/>
          </a:xfrm>
          <a:solidFill>
            <a:srgbClr val="A6E132"/>
          </a:solidFill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9D17E-160A-41E8-C272-69A660FC9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709715"/>
            <a:ext cx="7275871" cy="606471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Overview:</a:t>
            </a:r>
          </a:p>
          <a:p>
            <a:pPr algn="just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Analyzed OLA ride data to uncover key business insights related to ride demand, cancellations, revenue trends, payment methods, and customer ratings.</a:t>
            </a:r>
          </a:p>
          <a:p>
            <a:pPr algn="just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optimized SQL queries to extract insights including ride trends, cancellation analysis, revenue distribution, and rating patterns.</a:t>
            </a:r>
          </a:p>
          <a:p>
            <a:pPr algn="just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Validated query results to ensure data accuracy and reliability.</a:t>
            </a:r>
          </a:p>
          <a:p>
            <a:pPr algn="just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an interactive dashboard to visualize key performance indicators (KPIs) and enable dynamic data exploration.</a:t>
            </a:r>
          </a:p>
          <a:p>
            <a:pPr algn="just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3 pages in Power BI.</a:t>
            </a:r>
          </a:p>
          <a:p>
            <a:pPr marL="114300" indent="0">
              <a:buNone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Cleaning: </a:t>
            </a:r>
            <a:endParaRPr lang="en-US" sz="1200" dirty="0"/>
          </a:p>
          <a:p>
            <a:pPr algn="just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Checked the dataset for missing and duplicate value and handled them appropriately.</a:t>
            </a:r>
          </a:p>
          <a:p>
            <a:pPr algn="just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Standardized column names and ensured consistency in formatting.</a:t>
            </a:r>
          </a:p>
          <a:p>
            <a:pPr algn="just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Converted data types where required.</a:t>
            </a:r>
          </a:p>
          <a:p>
            <a:pPr algn="just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derived features where necessary to improve analysis and insights.</a:t>
            </a:r>
          </a:p>
          <a:p>
            <a:pPr algn="just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Ensured the dataset was structured and ready for SQL querying and dashboard visualization.</a:t>
            </a:r>
          </a:p>
          <a:p>
            <a:pPr marL="114300" indent="0" algn="just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 Development:</a:t>
            </a:r>
          </a:p>
          <a:p>
            <a:pPr algn="just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Wrote SQL queries to extract meaningful business insights from the OLA ride dataset.</a:t>
            </a:r>
          </a:p>
          <a:p>
            <a:pPr algn="just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aggregation functions like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COUNT, SUM, AVG, GROUP BY, and ORDER BY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analysis.</a:t>
            </a:r>
          </a:p>
          <a:p>
            <a:pPr algn="just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Validated results by cross-checking query outputs with dataset values.</a:t>
            </a:r>
          </a:p>
          <a:p>
            <a:pPr marL="114300" indent="0" algn="just">
              <a:buNone/>
            </a:pP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lang="en-IN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EBC21C-12A7-92CF-F726-F8666D290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844" y="709715"/>
            <a:ext cx="4008575" cy="191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AF7010-8651-6175-2414-F645F2442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555" y="2794411"/>
            <a:ext cx="3977864" cy="19263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CDAC4B-90B6-2F96-6EA8-51555AAF1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7555" y="4863512"/>
            <a:ext cx="3947151" cy="19109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B33F59-82FC-FB29-B999-00254744D5A8}"/>
              </a:ext>
            </a:extLst>
          </p:cNvPr>
          <p:cNvSpPr txBox="1"/>
          <p:nvPr/>
        </p:nvSpPr>
        <p:spPr>
          <a:xfrm>
            <a:off x="11405419" y="1557597"/>
            <a:ext cx="5950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 dirty="0"/>
              <a:t>Page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E43415-ADD5-ED5B-BA38-8821C88946AA}"/>
              </a:ext>
            </a:extLst>
          </p:cNvPr>
          <p:cNvSpPr txBox="1"/>
          <p:nvPr/>
        </p:nvSpPr>
        <p:spPr>
          <a:xfrm>
            <a:off x="11405419" y="3630316"/>
            <a:ext cx="5950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 dirty="0"/>
              <a:t>Page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DDBBC0-971A-B712-9958-EAF74216534B}"/>
              </a:ext>
            </a:extLst>
          </p:cNvPr>
          <p:cNvSpPr txBox="1"/>
          <p:nvPr/>
        </p:nvSpPr>
        <p:spPr>
          <a:xfrm>
            <a:off x="11405418" y="5695858"/>
            <a:ext cx="5950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 dirty="0"/>
              <a:t>Page 3</a:t>
            </a:r>
          </a:p>
        </p:txBody>
      </p:sp>
    </p:spTree>
    <p:extLst>
      <p:ext uri="{BB962C8B-B14F-4D97-AF65-F5344CB8AC3E}">
        <p14:creationId xmlns:p14="http://schemas.microsoft.com/office/powerpoint/2010/main" val="1279060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67987-CAF3-195F-1694-D676C3A6D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322" y="731584"/>
            <a:ext cx="12192000" cy="4263203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key performance indicators (KPIs) for OLA Ride Analysis.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Include:</a:t>
            </a:r>
          </a:p>
          <a:p>
            <a:pPr lvl="1"/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Rides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Calculated by sum of total bookings.</a:t>
            </a:r>
          </a:p>
          <a:p>
            <a:pPr lvl="1"/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Revenue: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Calculated by sum of booking value and booking status(success).</a:t>
            </a:r>
          </a:p>
          <a:p>
            <a:pPr lvl="1"/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 Rate%: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Calculated the ride success rate by dividing the number of successful rides by the total number of rides and multiplying by 100</a:t>
            </a:r>
            <a:r>
              <a:rPr lang="en-US" sz="1400" dirty="0"/>
              <a:t>.</a:t>
            </a:r>
          </a:p>
          <a:p>
            <a:pPr lvl="1"/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canceled Rides: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Cancelled Rides are calculated by counting the distinct Booking IDs where the booking status is not “Success.”</a:t>
            </a:r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Cancelation Rate%: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Calculated cancellation rate as the percentage of non-successful rides out of total rides.</a:t>
            </a:r>
          </a:p>
          <a:p>
            <a:pPr marL="457200" lvl="2">
              <a:spcBef>
                <a:spcPts val="1000"/>
              </a:spcBef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Theses KPIs help measure overall business performance and enable data-driven decision-making by tracking key metrics such as  revenue, and cancellation rate.</a:t>
            </a:r>
          </a:p>
          <a:p>
            <a:pPr marL="457200" lvl="2">
              <a:spcBef>
                <a:spcPts val="1000"/>
              </a:spcBef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slicer for Date, Booking status, Payment method and Vehicle type.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298D0B-5F01-E7CB-5159-2FF8DA6FE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47" y="5274141"/>
            <a:ext cx="7338696" cy="7315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C74D8D-2820-2C5B-0675-B453CF80A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5367" y="5266520"/>
            <a:ext cx="1729890" cy="7392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74333BA-B50F-C66A-1B17-AD716DCA5C8E}"/>
              </a:ext>
            </a:extLst>
          </p:cNvPr>
          <p:cNvSpPr txBox="1">
            <a:spLocks/>
          </p:cNvSpPr>
          <p:nvPr/>
        </p:nvSpPr>
        <p:spPr>
          <a:xfrm>
            <a:off x="0" y="47226"/>
            <a:ext cx="12192000" cy="519778"/>
          </a:xfrm>
          <a:prstGeom prst="rect">
            <a:avLst/>
          </a:prstGeom>
          <a:solidFill>
            <a:srgbClr val="A6E1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Performance Indicator (KPI’s)</a:t>
            </a:r>
            <a:endParaRPr lang="en-IN" sz="32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111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 descr="Scatterplot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 descr="Car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331" y="213859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 descr="Rupee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522" y="3431194"/>
            <a:ext cx="567128" cy="567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 descr="Crash with solid fil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7343" y="423281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 descr="Rating with solid fil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4886" y="555925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Vehicle Type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Cancellation</a:t>
            </a:r>
            <a:endParaRPr sz="2000" dirty="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Ratings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" descr="A white text on a black background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 descr="A yellow circle with black lines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A045FD-B932-C8A9-03ED-567B27AD0D5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536"/>
          <a:stretch>
            <a:fillRect/>
          </a:stretch>
        </p:blipFill>
        <p:spPr>
          <a:xfrm>
            <a:off x="8725863" y="778753"/>
            <a:ext cx="3421626" cy="29917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37B32E-623A-4E3F-7158-B32E7E17F3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81352" y="4032378"/>
            <a:ext cx="3510648" cy="28256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6B7FC4-FC9A-F647-F395-9FA42CCA7065}"/>
              </a:ext>
            </a:extLst>
          </p:cNvPr>
          <p:cNvSpPr txBox="1"/>
          <p:nvPr/>
        </p:nvSpPr>
        <p:spPr>
          <a:xfrm>
            <a:off x="3114762" y="877265"/>
            <a:ext cx="543930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Ride Volume Per Day</a:t>
            </a:r>
          </a:p>
          <a:p>
            <a:endParaRPr lang="en-IN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visual analyzes daily ride volume trends to understand fluctuations in customer demand and identify peak and low booking days.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Daily ride volume remains relatively stable, averaging around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3,300–3,400 rides per day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consistent demand</a:t>
            </a:r>
            <a:r>
              <a:rPr lang="en-US" sz="16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highest ride volume was recorded at approximately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3,432 rides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showing peak demand on certain days</a:t>
            </a:r>
            <a:r>
              <a:rPr lang="en-US" sz="16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lowest ride volume dropped to around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3,072 rides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a noticeable decline toward the end of the period</a:t>
            </a:r>
            <a:r>
              <a:rPr lang="en-US" sz="16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trend suggests steady customer demand with occasional peak booking days.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02CEE1-42E5-BCBD-81A0-981969ABCADF}"/>
              </a:ext>
            </a:extLst>
          </p:cNvPr>
          <p:cNvSpPr txBox="1"/>
          <p:nvPr/>
        </p:nvSpPr>
        <p:spPr>
          <a:xfrm>
            <a:off x="3173084" y="4149940"/>
            <a:ext cx="5497189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Booking Status Breakdown</a:t>
            </a:r>
          </a:p>
          <a:p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visual shows the distribution of total bookings based on their status. So , use Donut chart to visualize the distribution.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 visual we can see the majority of rides were successfully completed, accounting for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64K rides (62.09%).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18K rides (17.89%)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were cancelled by drivers and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10K rides (10.19%)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were cancelled by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cancellation-related cases (driver cancelled, customer cancelled, driver not found) account for approximately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38% of total bookings.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b="1" dirty="0"/>
          </a:p>
          <a:p>
            <a:endParaRPr lang="en-IN" sz="1600" b="1" dirty="0"/>
          </a:p>
          <a:p>
            <a:endParaRPr lang="en-IN" sz="1600" b="1" dirty="0"/>
          </a:p>
          <a:p>
            <a:endParaRPr lang="en-IN" sz="1600" b="1" dirty="0"/>
          </a:p>
          <a:p>
            <a:endParaRPr lang="en-IN" sz="1600" b="1" dirty="0"/>
          </a:p>
          <a:p>
            <a:endParaRPr lang="en-IN" sz="1600" b="1" dirty="0"/>
          </a:p>
          <a:p>
            <a:endParaRPr lang="en-IN" sz="1600" b="1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47A31D2-1E4A-09DC-D03C-7D8DF383032E}"/>
              </a:ext>
            </a:extLst>
          </p:cNvPr>
          <p:cNvSpPr txBox="1">
            <a:spLocks/>
          </p:cNvSpPr>
          <p:nvPr/>
        </p:nvSpPr>
        <p:spPr>
          <a:xfrm>
            <a:off x="3072984" y="125893"/>
            <a:ext cx="9119016" cy="519778"/>
          </a:xfrm>
          <a:prstGeom prst="rect">
            <a:avLst/>
          </a:prstGeom>
          <a:solidFill>
            <a:srgbClr val="A6E1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Performance Indicator (KPI’s)</a:t>
            </a:r>
            <a:endParaRPr lang="en-IN" sz="32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2A280C-51E2-B218-29F4-FA622C9C80D5}"/>
              </a:ext>
            </a:extLst>
          </p:cNvPr>
          <p:cNvCxnSpPr>
            <a:cxnSpLocks/>
          </p:cNvCxnSpPr>
          <p:nvPr/>
        </p:nvCxnSpPr>
        <p:spPr>
          <a:xfrm flipV="1">
            <a:off x="3261555" y="3914818"/>
            <a:ext cx="8581923" cy="51128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0" y="2132399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" descr="Scatterplot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 descr="Car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331" y="213859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 descr="Rupee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522" y="3431194"/>
            <a:ext cx="567128" cy="567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" descr="Crash with solid fil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7343" y="423281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" descr="Rating with solid fil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4886" y="555925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"/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Vehicle Type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Cancellation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Ratings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6" name="Google Shape;116;p2" descr="A white text on a black background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" descr="A yellow circle with black lines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8" name="Google Shape;118;p2"/>
          <p:cNvGraphicFramePr/>
          <p:nvPr>
            <p:extLst>
              <p:ext uri="{D42A27DB-BD31-4B8C-83A1-F6EECF244321}">
                <p14:modId xmlns:p14="http://schemas.microsoft.com/office/powerpoint/2010/main" val="655523010"/>
              </p:ext>
            </p:extLst>
          </p:nvPr>
        </p:nvGraphicFramePr>
        <p:xfrm>
          <a:off x="3421506" y="877266"/>
          <a:ext cx="8421975" cy="5573081"/>
        </p:xfrm>
        <a:graphic>
          <a:graphicData uri="http://schemas.openxmlformats.org/drawingml/2006/table">
            <a:tbl>
              <a:tblPr firstRow="1" bandRow="1">
                <a:noFill/>
                <a:tableStyleId>{88C06543-E3CC-495D-A703-477479BDC3B9}</a:tableStyleId>
              </a:tblPr>
              <a:tblGrid>
                <a:gridCol w="166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623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Vehicle Type</a:t>
                      </a:r>
                      <a:endParaRPr sz="1600" u="none" strike="noStrike" cap="none">
                        <a:solidFill>
                          <a:schemeClr val="accent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Booking Value</a:t>
                      </a:r>
                      <a:endParaRPr sz="1600" u="none" strike="noStrike" cap="none">
                        <a:solidFill>
                          <a:schemeClr val="accent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Success Booking Value</a:t>
                      </a:r>
                      <a:endParaRPr sz="1600" u="none" strike="noStrike" cap="none">
                        <a:solidFill>
                          <a:schemeClr val="accent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Avg. Distance Travelled</a:t>
                      </a:r>
                      <a:endParaRPr sz="1600" u="none" strike="noStrike" cap="none">
                        <a:solidFill>
                          <a:schemeClr val="accent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Distance Travelled</a:t>
                      </a:r>
                      <a:endParaRPr sz="1600" u="none" strike="noStrike" cap="none">
                        <a:solidFill>
                          <a:schemeClr val="accent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Prime Sedan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8298612</a:t>
                      </a: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5224050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15.76493917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234535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9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Prime SUV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7933330</a:t>
                      </a: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4876815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15.27451382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223848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9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Prime Plus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8050889</a:t>
                      </a: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5015165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15.44747399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227186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9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Mini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7990996</a:t>
                      </a: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4885961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15.5101017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225703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9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8092210</a:t>
                      </a: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5051846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6.238088783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92043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9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Bike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7987054</a:t>
                      </a: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4971968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15.53307871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227746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9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E-Bike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8181523</a:t>
                      </a: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5054662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15.58058855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230842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19" name="Google Shape;119;p2" descr="A black background with a black square&#10;&#10;Description automatically generated with medium confiden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731922" y="1381482"/>
            <a:ext cx="956874" cy="956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" descr="A black background with a black square&#10;&#10;Description automatically generated with medium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818163" y="2146462"/>
            <a:ext cx="855461" cy="855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" descr="A car on a black background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574641" y="2631383"/>
            <a:ext cx="1191719" cy="1191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" descr="A black background with a black square&#10;&#10;Description automatically generated with medium confidence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806480" y="3580263"/>
            <a:ext cx="855461" cy="855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" descr="A black background with a black square&#10;&#10;Description automatically generated with medium confidence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999855" y="4401442"/>
            <a:ext cx="457234" cy="457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" descr="A black background with a black square&#10;&#10;Description automatically generated with medium confidence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872980" y="4967726"/>
            <a:ext cx="722459" cy="722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" descr="A black background with a black square&#10;&#10;Description automatically generated with medium confidence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014845" y="5785351"/>
            <a:ext cx="457234" cy="45723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56809D-852F-79E5-AB9A-2C418F151941}"/>
              </a:ext>
            </a:extLst>
          </p:cNvPr>
          <p:cNvSpPr txBox="1">
            <a:spLocks/>
          </p:cNvSpPr>
          <p:nvPr/>
        </p:nvSpPr>
        <p:spPr>
          <a:xfrm>
            <a:off x="3072984" y="147764"/>
            <a:ext cx="9119016" cy="519778"/>
          </a:xfrm>
          <a:prstGeom prst="rect">
            <a:avLst/>
          </a:prstGeom>
          <a:solidFill>
            <a:srgbClr val="A6E1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Vehicle Type Performance Analysis</a:t>
            </a:r>
            <a:endParaRPr lang="en-IN" sz="32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6EBBF-1103-1686-87C3-D21BAB4EE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987" y="865239"/>
            <a:ext cx="7167716" cy="291633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5 Vehicle Type By Distance :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analyze the total ride distance covered by the top five vehicle categories, use column chart to visualize it.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insights found that all vehicle show nearly equal total distance of approximately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0.23M(</a:t>
            </a:r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230,000 km)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balanced usage across categories.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Similar distance distribution suggests consistent customer preference across different ride categories.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Balanced distance contribution across vehicle types reflects operational stability.</a:t>
            </a:r>
          </a:p>
          <a:p>
            <a:pPr marL="114300" indent="0">
              <a:buNone/>
            </a:pP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B0E8A03-D71E-21F6-551A-7F2182947606}"/>
              </a:ext>
            </a:extLst>
          </p:cNvPr>
          <p:cNvSpPr txBox="1">
            <a:spLocks/>
          </p:cNvSpPr>
          <p:nvPr/>
        </p:nvSpPr>
        <p:spPr>
          <a:xfrm>
            <a:off x="0" y="230188"/>
            <a:ext cx="12192000" cy="519778"/>
          </a:xfrm>
          <a:prstGeom prst="rect">
            <a:avLst/>
          </a:prstGeom>
          <a:solidFill>
            <a:srgbClr val="A6E1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Performance Indicator (KPI’s)</a:t>
            </a:r>
            <a:endParaRPr lang="en-IN" sz="32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2A6FBB-CCBA-0026-4295-C78D47668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4551" y="3991897"/>
            <a:ext cx="4620467" cy="27726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166686-EB08-14F2-2A82-0C060083F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5086" y="1008872"/>
            <a:ext cx="4539395" cy="26780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2DD3C8-4EE4-C104-EB7C-8E0E547056CE}"/>
              </a:ext>
            </a:extLst>
          </p:cNvPr>
          <p:cNvCxnSpPr>
            <a:cxnSpLocks/>
          </p:cNvCxnSpPr>
          <p:nvPr/>
        </p:nvCxnSpPr>
        <p:spPr>
          <a:xfrm>
            <a:off x="442452" y="3886732"/>
            <a:ext cx="11071122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0E4BA6F-5ACA-2D75-D085-4B6F4661EB84}"/>
              </a:ext>
            </a:extLst>
          </p:cNvPr>
          <p:cNvSpPr txBox="1"/>
          <p:nvPr/>
        </p:nvSpPr>
        <p:spPr>
          <a:xfrm>
            <a:off x="176982" y="3991897"/>
            <a:ext cx="7108721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Ride Distance Distribution Per Day</a:t>
            </a:r>
          </a:p>
          <a:p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analyze the average ride distance for each day over a one-month period use Line chart to get more details.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ride distances fall within a narrow range of approximately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13.85 km to 14.77 km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highest average ride distance was observed around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Day 30 (~14.77 km)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lowest average ride distance occurred around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Day 29 (~13.85 km)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are minor daily fluctuations, but no extreme spikes or drops</a:t>
            </a:r>
            <a:r>
              <a:rPr lang="en-US" sz="1600" dirty="0"/>
              <a:t>.</a:t>
            </a: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550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0" y="3286975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3" descr="Scatterplot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" descr="Car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331" y="213859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3" descr="Rupee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522" y="3431194"/>
            <a:ext cx="567128" cy="567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3" descr="Crash with solid fil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7343" y="423281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3" descr="Rating with solid fil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4886" y="555925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"/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Vehicle Type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Cancellation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Ratings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3" name="Google Shape;143;p3" descr="A white text on a black background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3" descr="A yellow circle with black lines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D207A9-95A1-B271-C988-A842688F1C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88361" y="783628"/>
            <a:ext cx="3303639" cy="28710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2D43A6-EDBA-D45B-A6B1-9F4EFEC77FB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88361" y="3887424"/>
            <a:ext cx="3392129" cy="297057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D5637A8-6CBA-6283-4C70-8594D7D7F23D}"/>
              </a:ext>
            </a:extLst>
          </p:cNvPr>
          <p:cNvSpPr txBox="1">
            <a:spLocks/>
          </p:cNvSpPr>
          <p:nvPr/>
        </p:nvSpPr>
        <p:spPr>
          <a:xfrm>
            <a:off x="3072984" y="140886"/>
            <a:ext cx="9119016" cy="519778"/>
          </a:xfrm>
          <a:prstGeom prst="rect">
            <a:avLst/>
          </a:prstGeom>
          <a:solidFill>
            <a:srgbClr val="A6E1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Performance Indicator (KPI’s)</a:t>
            </a:r>
            <a:endParaRPr lang="en-IN" sz="32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B83847-C3AD-AF56-7599-C99CD82D34EB}"/>
              </a:ext>
            </a:extLst>
          </p:cNvPr>
          <p:cNvCxnSpPr>
            <a:cxnSpLocks/>
          </p:cNvCxnSpPr>
          <p:nvPr/>
        </p:nvCxnSpPr>
        <p:spPr>
          <a:xfrm flipV="1">
            <a:off x="3309077" y="3756512"/>
            <a:ext cx="8454103" cy="564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20D6647-7629-74DD-FC90-80306873BDB1}"/>
              </a:ext>
            </a:extLst>
          </p:cNvPr>
          <p:cNvSpPr txBox="1"/>
          <p:nvPr/>
        </p:nvSpPr>
        <p:spPr>
          <a:xfrm>
            <a:off x="3182912" y="762529"/>
            <a:ext cx="5597293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By Payment Method</a:t>
            </a:r>
          </a:p>
          <a:p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chart shows the distribution of total revenue based on different payment methods.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Pie Chart for visual.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helps understand customer payment preferences and digital adoption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Cash contributes the highest revenue share (~54.9%, 19M)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second-largest contributor (~40.39%, 14M)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 Card contributes a small share (~3.74%, 1M)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is heavily concentrated in Cash and UPI, indicating these are the dominant payment preferences.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3ED867-3966-9FB7-82E1-9FCA2A7B3479}"/>
              </a:ext>
            </a:extLst>
          </p:cNvPr>
          <p:cNvSpPr txBox="1"/>
          <p:nvPr/>
        </p:nvSpPr>
        <p:spPr>
          <a:xfrm>
            <a:off x="3303640" y="3998322"/>
            <a:ext cx="5476565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5 Customers By Total Booking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Bar chart to know the Top 5 customers based on their total booking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helps identify high-value customers who contribute significantly to overall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analysis is based on total revenue generated per customer 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top 3 customers (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CID836942, CID868113, CID695232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each generated approximately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6.0K in total booking value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next 2 customers (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CID176493 and CID902403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contributed slightly lower but similar values of around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5.9K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is no large gap between customers, indicating balanced revenue contribution among top users.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"/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0" y="4369309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4" descr="Scatterplot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4" descr="Car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331" y="213859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4" descr="Rupee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522" y="3431194"/>
            <a:ext cx="567128" cy="567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4" descr="Crash with solid fil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7343" y="423281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4" descr="Rating with solid fil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4886" y="555925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"/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Vehicle Type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Cancellation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Ratings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2" name="Google Shape;162;p4" descr="A white text on a black background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4" descr="A yellow circle with black lines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B909D44-7AC4-EBA7-93BA-E923E87BC3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245" y="3869035"/>
            <a:ext cx="3765755" cy="29894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4A7775-0D6F-6DAD-A962-0451416C946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6245" y="815115"/>
            <a:ext cx="3765755" cy="277809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E507622-4CE7-E1D1-0A9D-86EB0A540735}"/>
              </a:ext>
            </a:extLst>
          </p:cNvPr>
          <p:cNvSpPr txBox="1">
            <a:spLocks/>
          </p:cNvSpPr>
          <p:nvPr/>
        </p:nvSpPr>
        <p:spPr>
          <a:xfrm>
            <a:off x="3072984" y="131809"/>
            <a:ext cx="9119016" cy="519778"/>
          </a:xfrm>
          <a:prstGeom prst="rect">
            <a:avLst/>
          </a:prstGeom>
          <a:solidFill>
            <a:srgbClr val="A6E1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Performance Indicator (KPI’s)</a:t>
            </a:r>
            <a:endParaRPr lang="en-IN" sz="32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68DC2E-757F-BBB0-FB2B-5A7CEA494BF5}"/>
              </a:ext>
            </a:extLst>
          </p:cNvPr>
          <p:cNvCxnSpPr>
            <a:cxnSpLocks/>
          </p:cNvCxnSpPr>
          <p:nvPr/>
        </p:nvCxnSpPr>
        <p:spPr>
          <a:xfrm>
            <a:off x="3411794" y="3783015"/>
            <a:ext cx="8601719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76710A-4F9E-2512-F9CB-D2635C3BD5D4}"/>
              </a:ext>
            </a:extLst>
          </p:cNvPr>
          <p:cNvSpPr txBox="1"/>
          <p:nvPr/>
        </p:nvSpPr>
        <p:spPr>
          <a:xfrm>
            <a:off x="3182912" y="783396"/>
            <a:ext cx="5125346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Cancelled Rides Reasons By Customer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table shows the main reasons why customers cancelled their rides.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most common cancellation reason is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“Driver is not moving towards pickup location” with 3,175 cancellations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possible driver delays.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second highest reason is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“Driver asked to cancel” with 2,670 cancellations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highlighting potential driver-related service issues.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number of cancelled rides is 10,499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showing a significant impact on operations and revenue</a:t>
            </a:r>
            <a:r>
              <a:rPr lang="en-US" sz="1600" dirty="0"/>
              <a:t>.</a:t>
            </a: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BD4AB2-DB6A-92F7-20E4-25BDBDACFF06}"/>
              </a:ext>
            </a:extLst>
          </p:cNvPr>
          <p:cNvSpPr txBox="1"/>
          <p:nvPr/>
        </p:nvSpPr>
        <p:spPr>
          <a:xfrm>
            <a:off x="3309077" y="3869034"/>
            <a:ext cx="4952276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Cancelled Rides Reasons By Driver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table shows the main reasons why drivers cancelled rides.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helps identify driver-side operational challenges and service limitations.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most common reason is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“Personal &amp; Car related issue” with 6,542 cancellations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vehicle problems or driver availability issues.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second highest reason is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“Customer related issue” with 5,413 cancellations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showing conflicts or issues related to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driver cancellations are 18,434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which is significantly higher than customer cancellations.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8" name="Google Shape;168;p5"/>
          <p:cNvGraphicFramePr/>
          <p:nvPr>
            <p:extLst>
              <p:ext uri="{D42A27DB-BD31-4B8C-83A1-F6EECF244321}">
                <p14:modId xmlns:p14="http://schemas.microsoft.com/office/powerpoint/2010/main" val="2860276115"/>
              </p:ext>
            </p:extLst>
          </p:nvPr>
        </p:nvGraphicFramePr>
        <p:xfrm>
          <a:off x="3439615" y="1705192"/>
          <a:ext cx="8128050" cy="1393320"/>
        </p:xfrm>
        <a:graphic>
          <a:graphicData uri="http://schemas.openxmlformats.org/drawingml/2006/table">
            <a:tbl>
              <a:tblPr firstRow="1" bandRow="1">
                <a:noFill/>
                <a:tableStyleId>{88C06543-E3CC-495D-A703-477479BDC3B9}</a:tableStyleId>
              </a:tblPr>
              <a:tblGrid>
                <a:gridCol w="116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13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C0C0C"/>
                          </a:solidFill>
                        </a:rPr>
                        <a:t>Prime Sedan</a:t>
                      </a: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C0C0C"/>
                          </a:solidFill>
                        </a:rPr>
                        <a:t>Prime SUV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C0C0C"/>
                          </a:solidFill>
                        </a:rPr>
                        <a:t>Prime Plus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C0C0C"/>
                          </a:solidFill>
                        </a:rPr>
                        <a:t>Mini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C0C0C"/>
                          </a:solidFill>
                        </a:rPr>
                        <a:t>Auto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C0C0C"/>
                          </a:solidFill>
                        </a:rPr>
                        <a:t>Bike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C0C0C"/>
                          </a:solidFill>
                        </a:rPr>
                        <a:t>E-Bike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3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2.522746521</a:t>
                      </a: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2.455025589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2.47407357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2.482373557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2.484384954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2.487757468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2.47087608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9" name="Google Shape;169;p5"/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0" y="5530674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5" descr="Scatterplot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5" descr="Car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331" y="213859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5" descr="Rupee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522" y="3431194"/>
            <a:ext cx="567128" cy="567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5" descr="Crash with solid fil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7343" y="423281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5" descr="Rating with solid fil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4886" y="555925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5"/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Vehicle Type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Cancellation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Ratings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2" name="Google Shape;182;p5" descr="A white text on a black background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5" descr="A yellow circle with black lines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5" descr="A black background with a black square&#10;&#10;Description automatically generated with medium confiden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582022" y="1572711"/>
            <a:ext cx="956874" cy="956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5" descr="A black background with a black square&#10;&#10;Description automatically generated with medium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90740" y="1612273"/>
            <a:ext cx="855461" cy="855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5" descr="A black background with a black square&#10;&#10;Description automatically generated with medium confidence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068690" y="1690587"/>
            <a:ext cx="855461" cy="855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5" descr="A black background with a black square&#10;&#10;Description automatically generated with medium confidence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439474" y="1801135"/>
            <a:ext cx="457234" cy="457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5" descr="A black background with a black square&#10;&#10;Description automatically generated with medium confidence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426701" y="1653397"/>
            <a:ext cx="722459" cy="722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5" descr="A black background with a black square&#10;&#10;Description automatically generated with medium confidence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714204" y="1774447"/>
            <a:ext cx="457234" cy="457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5" descr="A black background with a black square&#10;&#10;Description automatically generated with medium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14725" y="1623417"/>
            <a:ext cx="855461" cy="85546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1" name="Google Shape;191;p5"/>
          <p:cNvGraphicFramePr/>
          <p:nvPr>
            <p:extLst>
              <p:ext uri="{D42A27DB-BD31-4B8C-83A1-F6EECF244321}">
                <p14:modId xmlns:p14="http://schemas.microsoft.com/office/powerpoint/2010/main" val="2289368483"/>
              </p:ext>
            </p:extLst>
          </p:nvPr>
        </p:nvGraphicFramePr>
        <p:xfrm>
          <a:off x="3472094" y="4016172"/>
          <a:ext cx="8128050" cy="1393320"/>
        </p:xfrm>
        <a:graphic>
          <a:graphicData uri="http://schemas.openxmlformats.org/drawingml/2006/table">
            <a:tbl>
              <a:tblPr firstRow="1" bandRow="1">
                <a:noFill/>
                <a:tableStyleId>{88C06543-E3CC-495D-A703-477479BDC3B9}</a:tableStyleId>
              </a:tblPr>
              <a:tblGrid>
                <a:gridCol w="116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13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C0C0C"/>
                          </a:solidFill>
                        </a:rPr>
                        <a:t>Prime Sedan</a:t>
                      </a:r>
                      <a:endParaRPr sz="1200">
                        <a:solidFill>
                          <a:srgbClr val="0C0C0C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C0C0C"/>
                          </a:solidFill>
                        </a:rPr>
                        <a:t>Prime SUV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C0C0C"/>
                          </a:solidFill>
                        </a:rPr>
                        <a:t>Prime Plus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C0C0C"/>
                          </a:solidFill>
                        </a:rPr>
                        <a:t>Mini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C0C0C"/>
                          </a:solidFill>
                        </a:rPr>
                        <a:t>Auto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C0C0C"/>
                          </a:solidFill>
                        </a:rPr>
                        <a:t>Bike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C0C0C"/>
                          </a:solidFill>
                        </a:rPr>
                        <a:t>E-Bike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3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2.515870135</a:t>
                      </a: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2.458955988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2.46684572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2.479315558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2.487570315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2.482321648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2.482579644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92" name="Google Shape;192;p5" descr="A black background with a black square&#10;&#10;Description automatically generated with medium confiden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614501" y="3883691"/>
            <a:ext cx="956874" cy="956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5" descr="A black background with a black square&#10;&#10;Description automatically generated with medium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23219" y="3923253"/>
            <a:ext cx="855461" cy="855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5" descr="A black background with a black square&#10;&#10;Description automatically generated with medium confidence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101169" y="4001567"/>
            <a:ext cx="855461" cy="855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5" descr="A black background with a black square&#10;&#10;Description automatically generated with medium confidence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471953" y="4112115"/>
            <a:ext cx="457234" cy="457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5" descr="A black background with a black square&#10;&#10;Description automatically generated with medium confidence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459180" y="3964377"/>
            <a:ext cx="722459" cy="722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5" descr="A black background with a black square&#10;&#10;Description automatically generated with medium confidence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746683" y="4085427"/>
            <a:ext cx="457234" cy="457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5" descr="A black background with a black square&#10;&#10;Description automatically generated with medium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47204" y="3934397"/>
            <a:ext cx="855461" cy="85546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B1496C-EE16-E530-D93E-8519F8809D97}"/>
              </a:ext>
            </a:extLst>
          </p:cNvPr>
          <p:cNvSpPr txBox="1">
            <a:spLocks/>
          </p:cNvSpPr>
          <p:nvPr/>
        </p:nvSpPr>
        <p:spPr>
          <a:xfrm>
            <a:off x="3072984" y="131809"/>
            <a:ext cx="9119016" cy="519778"/>
          </a:xfrm>
          <a:prstGeom prst="rect">
            <a:avLst/>
          </a:prstGeom>
          <a:solidFill>
            <a:srgbClr val="A6E1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Rating for Vehicle Type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AACB6-8FC8-70AC-D5E7-76B770759D0A}"/>
              </a:ext>
            </a:extLst>
          </p:cNvPr>
          <p:cNvSpPr txBox="1"/>
          <p:nvPr/>
        </p:nvSpPr>
        <p:spPr>
          <a:xfrm>
            <a:off x="3472094" y="1206250"/>
            <a:ext cx="8095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Rating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5676E2-6F85-D06C-20AD-F509DC50F7CE}"/>
              </a:ext>
            </a:extLst>
          </p:cNvPr>
          <p:cNvSpPr txBox="1"/>
          <p:nvPr/>
        </p:nvSpPr>
        <p:spPr>
          <a:xfrm>
            <a:off x="3448634" y="3483458"/>
            <a:ext cx="8095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 Rating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A59C2-45DB-ADDA-1F67-85C41EA90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987" y="786581"/>
            <a:ext cx="11956026" cy="264241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insights found that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daily ride demand remains stable with minor fluctuations, indicating consistent customer usage.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Approximately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62% of rides are successfully completed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while around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38% result in cancellations or driver unavailability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highlighting operational gaps.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 cancellations contribute significantly to total cancellations, impacting overall success rate.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Vehicle categories show balanced distance coverage, indicating diversified customer preferences across ride types.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performance is directly linked to ride completion rate and cancellation reduction.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ratings indicate overall service performance and influence platform reliability perception.</a:t>
            </a:r>
            <a:endParaRPr lang="en-IN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C66D1AB-9577-B83C-6EFE-B933FEF1E9A5}"/>
              </a:ext>
            </a:extLst>
          </p:cNvPr>
          <p:cNvSpPr txBox="1">
            <a:spLocks/>
          </p:cNvSpPr>
          <p:nvPr/>
        </p:nvSpPr>
        <p:spPr>
          <a:xfrm>
            <a:off x="0" y="161259"/>
            <a:ext cx="12192000" cy="519778"/>
          </a:xfrm>
          <a:prstGeom prst="rect">
            <a:avLst/>
          </a:prstGeom>
          <a:solidFill>
            <a:srgbClr val="A6E1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 and Recommendation</a:t>
            </a:r>
            <a:endParaRPr lang="en-IN" sz="32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4EA882-99E9-BC09-BF90-5D4465100642}"/>
              </a:ext>
            </a:extLst>
          </p:cNvPr>
          <p:cNvCxnSpPr>
            <a:cxnSpLocks/>
          </p:cNvCxnSpPr>
          <p:nvPr/>
        </p:nvCxnSpPr>
        <p:spPr>
          <a:xfrm>
            <a:off x="117987" y="3576537"/>
            <a:ext cx="11631562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7EBCC1A-787E-C119-98AC-447C0FA87129}"/>
              </a:ext>
            </a:extLst>
          </p:cNvPr>
          <p:cNvSpPr txBox="1"/>
          <p:nvPr/>
        </p:nvSpPr>
        <p:spPr>
          <a:xfrm>
            <a:off x="196645" y="3724083"/>
            <a:ext cx="11877368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Recommendation:</a:t>
            </a:r>
          </a:p>
          <a:p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driver allocation and availability during peak demand hours to minimize “Driver Not Found” cases.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predictive demand analysis to optimize driver distribution across locations.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 cancellation penalty policies (if applicable) to discourage unnecessary ride cancellations.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real-time monitoring of ride status to quickly address operational disruptions.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 low-performing vehicle categories and redesign promotional strategies accordingly.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communication between drivers and customers to minimize misunderstandings and last-minute cancellation.</a:t>
            </a: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130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04D7EB6-A29B-D5A0-CCF3-53F7E0873695}"/>
              </a:ext>
            </a:extLst>
          </p:cNvPr>
          <p:cNvSpPr txBox="1">
            <a:spLocks/>
          </p:cNvSpPr>
          <p:nvPr/>
        </p:nvSpPr>
        <p:spPr>
          <a:xfrm>
            <a:off x="0" y="2825800"/>
            <a:ext cx="12192000" cy="910457"/>
          </a:xfrm>
          <a:prstGeom prst="rect">
            <a:avLst/>
          </a:prstGeom>
          <a:solidFill>
            <a:srgbClr val="A6E1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53983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13808</TotalTime>
  <Words>1376</Words>
  <Application>Microsoft Office PowerPoint</Application>
  <PresentationFormat>Widescreen</PresentationFormat>
  <Paragraphs>271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Poppins</vt:lpstr>
      <vt:lpstr>Courier New</vt:lpstr>
      <vt:lpstr>Play</vt:lpstr>
      <vt:lpstr>Calibri</vt:lpstr>
      <vt:lpstr>Arial</vt:lpstr>
      <vt:lpstr>Office Theme</vt:lpstr>
      <vt:lpstr>PowerPoint Presentation</vt:lpstr>
      <vt:lpstr>Project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Vishal Gajanan</dc:creator>
  <cp:lastModifiedBy>Tanay Moharir</cp:lastModifiedBy>
  <cp:revision>9</cp:revision>
  <dcterms:created xsi:type="dcterms:W3CDTF">2024-10-05T18:58:27Z</dcterms:created>
  <dcterms:modified xsi:type="dcterms:W3CDTF">2026-05-28T10:37:10Z</dcterms:modified>
</cp:coreProperties>
</file>